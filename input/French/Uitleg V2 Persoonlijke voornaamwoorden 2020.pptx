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61" r:id="rId3"/>
    <p:sldId id="262" r:id="rId4"/>
    <p:sldId id="257" r:id="rId5"/>
    <p:sldId id="259" r:id="rId6"/>
    <p:sldId id="263" r:id="rId7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CC33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679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457200" y="2363788"/>
            <a:ext cx="8153400" cy="1600200"/>
            <a:chOff x="288" y="1489"/>
            <a:chExt cx="5136" cy="1008"/>
          </a:xfrm>
        </p:grpSpPr>
        <p:sp>
          <p:nvSpPr>
            <p:cNvPr id="25603" name="Arc 3"/>
            <p:cNvSpPr>
              <a:spLocks/>
            </p:cNvSpPr>
            <p:nvPr/>
          </p:nvSpPr>
          <p:spPr bwMode="invGray">
            <a:xfrm>
              <a:off x="3595" y="1489"/>
              <a:ext cx="1829" cy="1008"/>
            </a:xfrm>
            <a:custGeom>
              <a:avLst/>
              <a:gdLst>
                <a:gd name="G0" fmla="+- 312 0 0"/>
                <a:gd name="G1" fmla="+- 21600 0 0"/>
                <a:gd name="G2" fmla="+- 21600 0 0"/>
                <a:gd name="T0" fmla="*/ 300 w 21912"/>
                <a:gd name="T1" fmla="*/ 0 h 43200"/>
                <a:gd name="T2" fmla="*/ 0 w 21912"/>
                <a:gd name="T3" fmla="*/ 43198 h 43200"/>
                <a:gd name="T4" fmla="*/ 312 w 21912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12" h="43200" fill="none" extrusionOk="0">
                  <a:moveTo>
                    <a:pt x="300" y="0"/>
                  </a:moveTo>
                  <a:cubicBezTo>
                    <a:pt x="304" y="0"/>
                    <a:pt x="308" y="-1"/>
                    <a:pt x="312" y="0"/>
                  </a:cubicBezTo>
                  <a:cubicBezTo>
                    <a:pt x="12241" y="0"/>
                    <a:pt x="21912" y="9670"/>
                    <a:pt x="21912" y="21600"/>
                  </a:cubicBezTo>
                  <a:cubicBezTo>
                    <a:pt x="21912" y="33529"/>
                    <a:pt x="12241" y="43200"/>
                    <a:pt x="312" y="43200"/>
                  </a:cubicBezTo>
                  <a:cubicBezTo>
                    <a:pt x="207" y="43200"/>
                    <a:pt x="103" y="43199"/>
                    <a:pt x="0" y="43197"/>
                  </a:cubicBezTo>
                </a:path>
                <a:path w="21912" h="43200" stroke="0" extrusionOk="0">
                  <a:moveTo>
                    <a:pt x="300" y="0"/>
                  </a:moveTo>
                  <a:cubicBezTo>
                    <a:pt x="304" y="0"/>
                    <a:pt x="308" y="-1"/>
                    <a:pt x="312" y="0"/>
                  </a:cubicBezTo>
                  <a:cubicBezTo>
                    <a:pt x="12241" y="0"/>
                    <a:pt x="21912" y="9670"/>
                    <a:pt x="21912" y="21600"/>
                  </a:cubicBezTo>
                  <a:cubicBezTo>
                    <a:pt x="21912" y="33529"/>
                    <a:pt x="12241" y="43200"/>
                    <a:pt x="312" y="43200"/>
                  </a:cubicBezTo>
                  <a:cubicBezTo>
                    <a:pt x="207" y="43200"/>
                    <a:pt x="103" y="43199"/>
                    <a:pt x="0" y="43197"/>
                  </a:cubicBezTo>
                  <a:lnTo>
                    <a:pt x="312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6633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5604" name="Arc 4"/>
            <p:cNvSpPr>
              <a:spLocks/>
            </p:cNvSpPr>
            <p:nvPr/>
          </p:nvSpPr>
          <p:spPr bwMode="invGray">
            <a:xfrm>
              <a:off x="3548" y="1593"/>
              <a:ext cx="1831" cy="800"/>
            </a:xfrm>
            <a:custGeom>
              <a:avLst/>
              <a:gdLst>
                <a:gd name="G0" fmla="+- 324 0 0"/>
                <a:gd name="G1" fmla="+- 21600 0 0"/>
                <a:gd name="G2" fmla="+- 21600 0 0"/>
                <a:gd name="T0" fmla="*/ 312 w 21924"/>
                <a:gd name="T1" fmla="*/ 0 h 43200"/>
                <a:gd name="T2" fmla="*/ 0 w 21924"/>
                <a:gd name="T3" fmla="*/ 43198 h 43200"/>
                <a:gd name="T4" fmla="*/ 324 w 21924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24" h="43200" fill="none" extrusionOk="0">
                  <a:moveTo>
                    <a:pt x="312" y="0"/>
                  </a:moveTo>
                  <a:cubicBezTo>
                    <a:pt x="316" y="0"/>
                    <a:pt x="320" y="-1"/>
                    <a:pt x="324" y="0"/>
                  </a:cubicBezTo>
                  <a:cubicBezTo>
                    <a:pt x="12253" y="0"/>
                    <a:pt x="21924" y="9670"/>
                    <a:pt x="21924" y="21600"/>
                  </a:cubicBezTo>
                  <a:cubicBezTo>
                    <a:pt x="21924" y="33529"/>
                    <a:pt x="12253" y="43200"/>
                    <a:pt x="324" y="43200"/>
                  </a:cubicBezTo>
                  <a:cubicBezTo>
                    <a:pt x="215" y="43200"/>
                    <a:pt x="107" y="43199"/>
                    <a:pt x="0" y="43197"/>
                  </a:cubicBezTo>
                </a:path>
                <a:path w="21924" h="43200" stroke="0" extrusionOk="0">
                  <a:moveTo>
                    <a:pt x="312" y="0"/>
                  </a:moveTo>
                  <a:cubicBezTo>
                    <a:pt x="316" y="0"/>
                    <a:pt x="320" y="-1"/>
                    <a:pt x="324" y="0"/>
                  </a:cubicBezTo>
                  <a:cubicBezTo>
                    <a:pt x="12253" y="0"/>
                    <a:pt x="21924" y="9670"/>
                    <a:pt x="21924" y="21600"/>
                  </a:cubicBezTo>
                  <a:cubicBezTo>
                    <a:pt x="21924" y="33529"/>
                    <a:pt x="12253" y="43200"/>
                    <a:pt x="324" y="43200"/>
                  </a:cubicBezTo>
                  <a:cubicBezTo>
                    <a:pt x="215" y="43200"/>
                    <a:pt x="107" y="43199"/>
                    <a:pt x="0" y="43197"/>
                  </a:cubicBezTo>
                  <a:lnTo>
                    <a:pt x="324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8944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5605" name="Arc 5"/>
            <p:cNvSpPr>
              <a:spLocks/>
            </p:cNvSpPr>
            <p:nvPr/>
          </p:nvSpPr>
          <p:spPr bwMode="invGray">
            <a:xfrm>
              <a:off x="3521" y="1732"/>
              <a:ext cx="1830" cy="522"/>
            </a:xfrm>
            <a:custGeom>
              <a:avLst/>
              <a:gdLst>
                <a:gd name="G0" fmla="+- 325 0 0"/>
                <a:gd name="G1" fmla="+- 21600 0 0"/>
                <a:gd name="G2" fmla="+- 21600 0 0"/>
                <a:gd name="T0" fmla="*/ 313 w 21925"/>
                <a:gd name="T1" fmla="*/ 0 h 43200"/>
                <a:gd name="T2" fmla="*/ 0 w 21925"/>
                <a:gd name="T3" fmla="*/ 43198 h 43200"/>
                <a:gd name="T4" fmla="*/ 325 w 2192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25" h="43200" fill="none" extrusionOk="0">
                  <a:moveTo>
                    <a:pt x="313" y="0"/>
                  </a:moveTo>
                  <a:cubicBezTo>
                    <a:pt x="317" y="0"/>
                    <a:pt x="321" y="-1"/>
                    <a:pt x="325" y="0"/>
                  </a:cubicBezTo>
                  <a:cubicBezTo>
                    <a:pt x="12254" y="0"/>
                    <a:pt x="21925" y="9670"/>
                    <a:pt x="21925" y="21600"/>
                  </a:cubicBezTo>
                  <a:cubicBezTo>
                    <a:pt x="21925" y="33529"/>
                    <a:pt x="12254" y="43200"/>
                    <a:pt x="325" y="43200"/>
                  </a:cubicBezTo>
                  <a:cubicBezTo>
                    <a:pt x="216" y="43200"/>
                    <a:pt x="108" y="43199"/>
                    <a:pt x="0" y="43197"/>
                  </a:cubicBezTo>
                </a:path>
                <a:path w="21925" h="43200" stroke="0" extrusionOk="0">
                  <a:moveTo>
                    <a:pt x="313" y="0"/>
                  </a:moveTo>
                  <a:cubicBezTo>
                    <a:pt x="317" y="0"/>
                    <a:pt x="321" y="-1"/>
                    <a:pt x="325" y="0"/>
                  </a:cubicBezTo>
                  <a:cubicBezTo>
                    <a:pt x="12254" y="0"/>
                    <a:pt x="21925" y="9670"/>
                    <a:pt x="21925" y="21600"/>
                  </a:cubicBezTo>
                  <a:cubicBezTo>
                    <a:pt x="21925" y="33529"/>
                    <a:pt x="12254" y="43200"/>
                    <a:pt x="325" y="43200"/>
                  </a:cubicBezTo>
                  <a:cubicBezTo>
                    <a:pt x="216" y="43200"/>
                    <a:pt x="108" y="43199"/>
                    <a:pt x="0" y="43197"/>
                  </a:cubicBezTo>
                  <a:lnTo>
                    <a:pt x="325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B75B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5606" name="AutoShape 6"/>
            <p:cNvSpPr>
              <a:spLocks noChangeArrowheads="1"/>
            </p:cNvSpPr>
            <p:nvPr/>
          </p:nvSpPr>
          <p:spPr bwMode="invGray">
            <a:xfrm>
              <a:off x="288" y="1940"/>
              <a:ext cx="4988" cy="104"/>
            </a:xfrm>
            <a:prstGeom prst="roundRect">
              <a:avLst>
                <a:gd name="adj" fmla="val 49995"/>
              </a:avLst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25607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447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nl-NL" noProof="0"/>
              <a:t>Klik om het opmaakprofiel van de modeltitel te bewerken</a:t>
            </a:r>
          </a:p>
        </p:txBody>
      </p:sp>
      <p:sp>
        <p:nvSpPr>
          <p:cNvPr id="25608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nl-NL" noProof="0"/>
              <a:t>Klik om het opmaakprofiel van de modelondertitel te bewerken</a:t>
            </a:r>
          </a:p>
        </p:txBody>
      </p:sp>
      <p:sp>
        <p:nvSpPr>
          <p:cNvPr id="25609" name="Rectangle 9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25610" name="Rectangle 1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25611" name="Rectangle 1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1EA2CF5-8B0E-4B21-A543-E6F50FAD9E19}" type="slidenum">
              <a:rPr lang="nl-NL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D59471-E313-4BCF-814F-BBFAE0ECDE0A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194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0EAA44-2A3A-43FC-94C3-7505C2ADF615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735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85800" y="2057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2057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2974FF-283E-472D-AD55-D3FE9A350194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855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51F7B9-D34B-4D09-9040-3AEFE8BBF976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191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D0F932-CC9D-4BFD-B8CC-FA89FD82571D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7065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518F35-E625-49E3-8781-E1F8DBCF1E5A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2155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4162B-C576-4010-A892-06BC72AF80A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608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8DFA7D-D3AA-4064-B3D0-72DDE683894B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435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9E1BFF-C214-448F-B8A3-F0BD8EF8DFD6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994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791200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791200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5F3921-E50D-4C97-ACE9-73FEBD8FA9BB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365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457200" y="992188"/>
            <a:ext cx="8153400" cy="1600200"/>
            <a:chOff x="288" y="625"/>
            <a:chExt cx="5136" cy="1008"/>
          </a:xfrm>
        </p:grpSpPr>
        <p:sp>
          <p:nvSpPr>
            <p:cNvPr id="24579" name="Arc 3"/>
            <p:cNvSpPr>
              <a:spLocks/>
            </p:cNvSpPr>
            <p:nvPr/>
          </p:nvSpPr>
          <p:spPr bwMode="invGray">
            <a:xfrm>
              <a:off x="3595" y="625"/>
              <a:ext cx="1829" cy="1008"/>
            </a:xfrm>
            <a:custGeom>
              <a:avLst/>
              <a:gdLst>
                <a:gd name="G0" fmla="+- 312 0 0"/>
                <a:gd name="G1" fmla="+- 21600 0 0"/>
                <a:gd name="G2" fmla="+- 21600 0 0"/>
                <a:gd name="T0" fmla="*/ 300 w 21912"/>
                <a:gd name="T1" fmla="*/ 0 h 43200"/>
                <a:gd name="T2" fmla="*/ 0 w 21912"/>
                <a:gd name="T3" fmla="*/ 43198 h 43200"/>
                <a:gd name="T4" fmla="*/ 312 w 21912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12" h="43200" fill="none" extrusionOk="0">
                  <a:moveTo>
                    <a:pt x="300" y="0"/>
                  </a:moveTo>
                  <a:cubicBezTo>
                    <a:pt x="304" y="0"/>
                    <a:pt x="308" y="-1"/>
                    <a:pt x="312" y="0"/>
                  </a:cubicBezTo>
                  <a:cubicBezTo>
                    <a:pt x="12241" y="0"/>
                    <a:pt x="21912" y="9670"/>
                    <a:pt x="21912" y="21600"/>
                  </a:cubicBezTo>
                  <a:cubicBezTo>
                    <a:pt x="21912" y="33529"/>
                    <a:pt x="12241" y="43200"/>
                    <a:pt x="312" y="43200"/>
                  </a:cubicBezTo>
                  <a:cubicBezTo>
                    <a:pt x="207" y="43200"/>
                    <a:pt x="103" y="43199"/>
                    <a:pt x="0" y="43197"/>
                  </a:cubicBezTo>
                </a:path>
                <a:path w="21912" h="43200" stroke="0" extrusionOk="0">
                  <a:moveTo>
                    <a:pt x="300" y="0"/>
                  </a:moveTo>
                  <a:cubicBezTo>
                    <a:pt x="304" y="0"/>
                    <a:pt x="308" y="-1"/>
                    <a:pt x="312" y="0"/>
                  </a:cubicBezTo>
                  <a:cubicBezTo>
                    <a:pt x="12241" y="0"/>
                    <a:pt x="21912" y="9670"/>
                    <a:pt x="21912" y="21600"/>
                  </a:cubicBezTo>
                  <a:cubicBezTo>
                    <a:pt x="21912" y="33529"/>
                    <a:pt x="12241" y="43200"/>
                    <a:pt x="312" y="43200"/>
                  </a:cubicBezTo>
                  <a:cubicBezTo>
                    <a:pt x="207" y="43200"/>
                    <a:pt x="103" y="43199"/>
                    <a:pt x="0" y="43197"/>
                  </a:cubicBezTo>
                  <a:lnTo>
                    <a:pt x="312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6633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4580" name="Arc 4"/>
            <p:cNvSpPr>
              <a:spLocks/>
            </p:cNvSpPr>
            <p:nvPr/>
          </p:nvSpPr>
          <p:spPr bwMode="invGray">
            <a:xfrm>
              <a:off x="3548" y="729"/>
              <a:ext cx="1831" cy="800"/>
            </a:xfrm>
            <a:custGeom>
              <a:avLst/>
              <a:gdLst>
                <a:gd name="G0" fmla="+- 324 0 0"/>
                <a:gd name="G1" fmla="+- 21600 0 0"/>
                <a:gd name="G2" fmla="+- 21600 0 0"/>
                <a:gd name="T0" fmla="*/ 312 w 21924"/>
                <a:gd name="T1" fmla="*/ 0 h 43200"/>
                <a:gd name="T2" fmla="*/ 0 w 21924"/>
                <a:gd name="T3" fmla="*/ 43198 h 43200"/>
                <a:gd name="T4" fmla="*/ 324 w 21924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24" h="43200" fill="none" extrusionOk="0">
                  <a:moveTo>
                    <a:pt x="312" y="0"/>
                  </a:moveTo>
                  <a:cubicBezTo>
                    <a:pt x="316" y="0"/>
                    <a:pt x="320" y="-1"/>
                    <a:pt x="324" y="0"/>
                  </a:cubicBezTo>
                  <a:cubicBezTo>
                    <a:pt x="12253" y="0"/>
                    <a:pt x="21924" y="9670"/>
                    <a:pt x="21924" y="21600"/>
                  </a:cubicBezTo>
                  <a:cubicBezTo>
                    <a:pt x="21924" y="33529"/>
                    <a:pt x="12253" y="43200"/>
                    <a:pt x="324" y="43200"/>
                  </a:cubicBezTo>
                  <a:cubicBezTo>
                    <a:pt x="215" y="43200"/>
                    <a:pt x="107" y="43199"/>
                    <a:pt x="0" y="43197"/>
                  </a:cubicBezTo>
                </a:path>
                <a:path w="21924" h="43200" stroke="0" extrusionOk="0">
                  <a:moveTo>
                    <a:pt x="312" y="0"/>
                  </a:moveTo>
                  <a:cubicBezTo>
                    <a:pt x="316" y="0"/>
                    <a:pt x="320" y="-1"/>
                    <a:pt x="324" y="0"/>
                  </a:cubicBezTo>
                  <a:cubicBezTo>
                    <a:pt x="12253" y="0"/>
                    <a:pt x="21924" y="9670"/>
                    <a:pt x="21924" y="21600"/>
                  </a:cubicBezTo>
                  <a:cubicBezTo>
                    <a:pt x="21924" y="33529"/>
                    <a:pt x="12253" y="43200"/>
                    <a:pt x="324" y="43200"/>
                  </a:cubicBezTo>
                  <a:cubicBezTo>
                    <a:pt x="215" y="43200"/>
                    <a:pt x="107" y="43199"/>
                    <a:pt x="0" y="43197"/>
                  </a:cubicBezTo>
                  <a:lnTo>
                    <a:pt x="324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8944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4581" name="Arc 5"/>
            <p:cNvSpPr>
              <a:spLocks/>
            </p:cNvSpPr>
            <p:nvPr/>
          </p:nvSpPr>
          <p:spPr bwMode="invGray">
            <a:xfrm>
              <a:off x="3521" y="868"/>
              <a:ext cx="1830" cy="522"/>
            </a:xfrm>
            <a:custGeom>
              <a:avLst/>
              <a:gdLst>
                <a:gd name="G0" fmla="+- 325 0 0"/>
                <a:gd name="G1" fmla="+- 21600 0 0"/>
                <a:gd name="G2" fmla="+- 21600 0 0"/>
                <a:gd name="T0" fmla="*/ 313 w 21925"/>
                <a:gd name="T1" fmla="*/ 0 h 43200"/>
                <a:gd name="T2" fmla="*/ 0 w 21925"/>
                <a:gd name="T3" fmla="*/ 43198 h 43200"/>
                <a:gd name="T4" fmla="*/ 325 w 2192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25" h="43200" fill="none" extrusionOk="0">
                  <a:moveTo>
                    <a:pt x="313" y="0"/>
                  </a:moveTo>
                  <a:cubicBezTo>
                    <a:pt x="317" y="0"/>
                    <a:pt x="321" y="-1"/>
                    <a:pt x="325" y="0"/>
                  </a:cubicBezTo>
                  <a:cubicBezTo>
                    <a:pt x="12254" y="0"/>
                    <a:pt x="21925" y="9670"/>
                    <a:pt x="21925" y="21600"/>
                  </a:cubicBezTo>
                  <a:cubicBezTo>
                    <a:pt x="21925" y="33529"/>
                    <a:pt x="12254" y="43200"/>
                    <a:pt x="325" y="43200"/>
                  </a:cubicBezTo>
                  <a:cubicBezTo>
                    <a:pt x="216" y="43200"/>
                    <a:pt x="108" y="43199"/>
                    <a:pt x="0" y="43197"/>
                  </a:cubicBezTo>
                </a:path>
                <a:path w="21925" h="43200" stroke="0" extrusionOk="0">
                  <a:moveTo>
                    <a:pt x="313" y="0"/>
                  </a:moveTo>
                  <a:cubicBezTo>
                    <a:pt x="317" y="0"/>
                    <a:pt x="321" y="-1"/>
                    <a:pt x="325" y="0"/>
                  </a:cubicBezTo>
                  <a:cubicBezTo>
                    <a:pt x="12254" y="0"/>
                    <a:pt x="21925" y="9670"/>
                    <a:pt x="21925" y="21600"/>
                  </a:cubicBezTo>
                  <a:cubicBezTo>
                    <a:pt x="21925" y="33529"/>
                    <a:pt x="12254" y="43200"/>
                    <a:pt x="325" y="43200"/>
                  </a:cubicBezTo>
                  <a:cubicBezTo>
                    <a:pt x="216" y="43200"/>
                    <a:pt x="108" y="43199"/>
                    <a:pt x="0" y="43197"/>
                  </a:cubicBezTo>
                  <a:lnTo>
                    <a:pt x="325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B75B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4582" name="AutoShape 6"/>
            <p:cNvSpPr>
              <a:spLocks noChangeArrowheads="1"/>
            </p:cNvSpPr>
            <p:nvPr/>
          </p:nvSpPr>
          <p:spPr bwMode="invGray">
            <a:xfrm>
              <a:off x="288" y="1076"/>
              <a:ext cx="4988" cy="104"/>
            </a:xfrm>
            <a:prstGeom prst="roundRect">
              <a:avLst>
                <a:gd name="adj" fmla="val 49995"/>
              </a:avLst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2458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het opmaakprofiel van de modeltitel te bewerken</a:t>
            </a:r>
          </a:p>
        </p:txBody>
      </p:sp>
      <p:sp>
        <p:nvSpPr>
          <p:cNvPr id="2458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057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opmaakprofielen van de modeltekst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458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endParaRPr lang="nl-NL"/>
          </a:p>
        </p:txBody>
      </p:sp>
      <p:sp>
        <p:nvSpPr>
          <p:cNvPr id="2458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endParaRPr lang="nl-NL"/>
          </a:p>
        </p:txBody>
      </p:sp>
      <p:sp>
        <p:nvSpPr>
          <p:cNvPr id="2458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fld id="{A6BB0E70-4CC2-403B-B255-6F6505E001C8}" type="slidenum">
              <a:rPr lang="nl-NL"/>
              <a:pPr/>
              <a:t>‹#›</a:t>
            </a:fld>
            <a:endParaRPr lang="nl-NL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2pPr>
      <a:lvl3pPr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3pPr>
      <a:lvl4pPr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4pPr>
      <a:lvl5pPr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Persoonlijke voornaamwoorden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219200"/>
          </a:xfrm>
        </p:spPr>
        <p:txBody>
          <a:bodyPr/>
          <a:lstStyle/>
          <a:p>
            <a:r>
              <a:rPr lang="nl-NL"/>
              <a:t>Gebruikt als lijdend en meewerkend voorwerp</a:t>
            </a:r>
          </a:p>
        </p:txBody>
      </p:sp>
    </p:spTree>
  </p:cSld>
  <p:clrMapOvr>
    <a:masterClrMapping/>
  </p:clrMapOvr>
  <p:transition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Lijdend / meewerkend voorwerp</a:t>
            </a:r>
            <a:endParaRPr lang="nl-NL" sz="400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Onderwerp: </a:t>
            </a:r>
            <a:r>
              <a:rPr lang="en-US">
                <a:solidFill>
                  <a:srgbClr val="6699FF"/>
                </a:solidFill>
              </a:rPr>
              <a:t>wie?</a:t>
            </a:r>
            <a:r>
              <a:rPr lang="en-US"/>
              <a:t> (loopt/praat/geeft…)</a:t>
            </a:r>
          </a:p>
          <a:p>
            <a:r>
              <a:rPr lang="en-US"/>
              <a:t>Lijdend voorwerp: </a:t>
            </a:r>
            <a:r>
              <a:rPr lang="en-US">
                <a:solidFill>
                  <a:srgbClr val="6699FF"/>
                </a:solidFill>
              </a:rPr>
              <a:t>wat?</a:t>
            </a:r>
            <a:r>
              <a:rPr lang="en-US"/>
              <a:t> (doe/geef ik)</a:t>
            </a:r>
          </a:p>
          <a:p>
            <a:r>
              <a:rPr lang="en-US"/>
              <a:t>Meewerkend voorwerp: </a:t>
            </a:r>
            <a:r>
              <a:rPr lang="en-US">
                <a:solidFill>
                  <a:srgbClr val="6699FF"/>
                </a:solidFill>
              </a:rPr>
              <a:t>aan wie?</a:t>
            </a:r>
            <a:r>
              <a:rPr lang="en-US"/>
              <a:t> (geef ik) </a:t>
            </a:r>
            <a:r>
              <a:rPr lang="en-US">
                <a:solidFill>
                  <a:srgbClr val="6699FF"/>
                </a:solidFill>
              </a:rPr>
              <a:t>met wie?</a:t>
            </a:r>
            <a:r>
              <a:rPr lang="en-US"/>
              <a:t> (praat ik) </a:t>
            </a:r>
            <a:r>
              <a:rPr lang="en-US">
                <a:solidFill>
                  <a:srgbClr val="6699FF"/>
                </a:solidFill>
              </a:rPr>
              <a:t>voor wie?</a:t>
            </a:r>
            <a:r>
              <a:rPr lang="en-US"/>
              <a:t> (maak ik) </a:t>
            </a:r>
            <a:r>
              <a:rPr lang="en-US">
                <a:solidFill>
                  <a:srgbClr val="6699FF"/>
                </a:solidFill>
              </a:rPr>
              <a:t>tegen wie?</a:t>
            </a:r>
            <a:r>
              <a:rPr lang="en-US"/>
              <a:t> (praat ik)</a:t>
            </a:r>
          </a:p>
          <a:p>
            <a:r>
              <a:rPr lang="en-US"/>
              <a:t>In het Frans: vaak een vaste combinatie, bijvoorbeeld: parler+meew. vw</a:t>
            </a:r>
            <a:endParaRPr lang="nl-NL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Persoonlijke voornaamwoorden</a:t>
            </a:r>
            <a:endParaRPr lang="nl-NL" sz="400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onderwerp</a:t>
            </a:r>
            <a:r>
              <a:rPr lang="en-US" dirty="0"/>
              <a:t>: je/</a:t>
            </a:r>
            <a:r>
              <a:rPr lang="en-US" dirty="0" err="1"/>
              <a:t>tu</a:t>
            </a:r>
            <a:r>
              <a:rPr lang="en-US" dirty="0"/>
              <a:t>/il/</a:t>
            </a:r>
            <a:r>
              <a:rPr lang="en-US" dirty="0" err="1"/>
              <a:t>elle</a:t>
            </a:r>
            <a:r>
              <a:rPr lang="en-US" dirty="0"/>
              <a:t>/on/nous/vous/</a:t>
            </a:r>
            <a:r>
              <a:rPr lang="en-US" dirty="0" err="1"/>
              <a:t>ils</a:t>
            </a:r>
            <a:r>
              <a:rPr lang="en-US" dirty="0"/>
              <a:t>/</a:t>
            </a:r>
            <a:r>
              <a:rPr lang="en-US" dirty="0" err="1"/>
              <a:t>elles</a:t>
            </a:r>
            <a:endParaRPr lang="en-US" dirty="0"/>
          </a:p>
          <a:p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lijdend</a:t>
            </a:r>
            <a:r>
              <a:rPr lang="en-US" dirty="0"/>
              <a:t> </a:t>
            </a:r>
            <a:r>
              <a:rPr lang="en-US" dirty="0" err="1"/>
              <a:t>voorwerp</a:t>
            </a:r>
            <a:r>
              <a:rPr lang="en-US" dirty="0"/>
              <a:t> of </a:t>
            </a:r>
            <a:r>
              <a:rPr lang="en-US" dirty="0" err="1"/>
              <a:t>meewerkend</a:t>
            </a:r>
            <a:r>
              <a:rPr lang="en-US" dirty="0"/>
              <a:t> </a:t>
            </a:r>
            <a:r>
              <a:rPr lang="en-US" dirty="0" err="1"/>
              <a:t>voorwerp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vorm</a:t>
            </a:r>
            <a:r>
              <a:rPr lang="en-US" dirty="0"/>
              <a:t>, net </a:t>
            </a:r>
            <a:r>
              <a:rPr lang="en-US" dirty="0" err="1"/>
              <a:t>als</a:t>
            </a:r>
            <a:r>
              <a:rPr lang="en-US" dirty="0"/>
              <a:t> in het </a:t>
            </a:r>
            <a:r>
              <a:rPr lang="en-US" dirty="0" err="1"/>
              <a:t>Nederlands</a:t>
            </a:r>
            <a:r>
              <a:rPr lang="en-US" dirty="0"/>
              <a:t>: </a:t>
            </a:r>
          </a:p>
          <a:p>
            <a:pPr>
              <a:buFontTx/>
              <a:buNone/>
            </a:pPr>
            <a:r>
              <a:rPr lang="en-US" dirty="0">
                <a:solidFill>
                  <a:schemeClr val="hlink"/>
                </a:solidFill>
              </a:rPr>
              <a:t>	</a:t>
            </a:r>
            <a:r>
              <a:rPr lang="en-US" dirty="0" err="1">
                <a:solidFill>
                  <a:schemeClr val="hlink"/>
                </a:solidFill>
              </a:rPr>
              <a:t>hij</a:t>
            </a:r>
            <a:r>
              <a:rPr lang="en-US" dirty="0"/>
              <a:t>/</a:t>
            </a:r>
            <a:r>
              <a:rPr lang="en-US" dirty="0" err="1">
                <a:solidFill>
                  <a:srgbClr val="33CC33"/>
                </a:solidFill>
              </a:rPr>
              <a:t>zij</a:t>
            </a:r>
            <a:r>
              <a:rPr lang="en-US" dirty="0"/>
              <a:t> </a:t>
            </a:r>
            <a:r>
              <a:rPr lang="en-US" dirty="0" err="1"/>
              <a:t>ziet</a:t>
            </a:r>
            <a:r>
              <a:rPr lang="en-US" dirty="0"/>
              <a:t> </a:t>
            </a:r>
            <a:r>
              <a:rPr lang="en-US" dirty="0">
                <a:solidFill>
                  <a:schemeClr val="hlink"/>
                </a:solidFill>
              </a:rPr>
              <a:t>hem</a:t>
            </a:r>
            <a:r>
              <a:rPr lang="en-US" dirty="0"/>
              <a:t>/</a:t>
            </a:r>
            <a:r>
              <a:rPr lang="en-US" dirty="0" err="1">
                <a:solidFill>
                  <a:srgbClr val="33CC33"/>
                </a:solidFill>
              </a:rPr>
              <a:t>haar</a:t>
            </a:r>
            <a:r>
              <a:rPr lang="nl-NL" dirty="0">
                <a:solidFill>
                  <a:srgbClr val="33CC33"/>
                </a:solidFill>
              </a:rPr>
              <a:t>.</a:t>
            </a:r>
            <a:endParaRPr lang="en-US" dirty="0">
              <a:solidFill>
                <a:srgbClr val="6699FF"/>
              </a:solidFill>
            </a:endParaRPr>
          </a:p>
          <a:p>
            <a:pPr>
              <a:buFontTx/>
              <a:buNone/>
            </a:pPr>
            <a:r>
              <a:rPr lang="en-US" dirty="0">
                <a:solidFill>
                  <a:schemeClr val="hlink"/>
                </a:solidFill>
              </a:rPr>
              <a:t>	</a:t>
            </a:r>
            <a:r>
              <a:rPr lang="nl-NL" dirty="0"/>
              <a:t>ik</a:t>
            </a:r>
            <a:r>
              <a:rPr lang="en-US" dirty="0"/>
              <a:t> </a:t>
            </a:r>
            <a:r>
              <a:rPr lang="en-US" dirty="0" err="1"/>
              <a:t>ge</a:t>
            </a:r>
            <a:r>
              <a:rPr lang="nl-NL" dirty="0" err="1"/>
              <a:t>ef</a:t>
            </a:r>
            <a:r>
              <a:rPr lang="en-US" dirty="0"/>
              <a:t> het </a:t>
            </a:r>
            <a:r>
              <a:rPr lang="en-US" dirty="0">
                <a:solidFill>
                  <a:schemeClr val="hlink"/>
                </a:solidFill>
              </a:rPr>
              <a:t>hem</a:t>
            </a:r>
            <a:r>
              <a:rPr lang="en-US" dirty="0"/>
              <a:t>/</a:t>
            </a:r>
            <a:r>
              <a:rPr lang="en-US" dirty="0" err="1">
                <a:solidFill>
                  <a:srgbClr val="33CC33"/>
                </a:solidFill>
              </a:rPr>
              <a:t>haar</a:t>
            </a:r>
            <a:r>
              <a:rPr lang="nl-NL" dirty="0">
                <a:solidFill>
                  <a:srgbClr val="33CC33"/>
                </a:solidFill>
              </a:rPr>
              <a:t>.</a:t>
            </a:r>
            <a:endParaRPr lang="en-US" dirty="0">
              <a:solidFill>
                <a:srgbClr val="6699FF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Vormen</a:t>
            </a:r>
            <a:endParaRPr lang="nl-NL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057400"/>
            <a:ext cx="3814763" cy="4114800"/>
          </a:xfrm>
        </p:spPr>
        <p:txBody>
          <a:bodyPr/>
          <a:lstStyle/>
          <a:p>
            <a:r>
              <a:rPr lang="nl-NL" sz="2400" dirty="0"/>
              <a:t>Lijdend voorwerp</a:t>
            </a:r>
          </a:p>
          <a:p>
            <a:pPr>
              <a:buFontTx/>
              <a:buNone/>
            </a:pPr>
            <a:endParaRPr lang="nl-NL" sz="2400" dirty="0"/>
          </a:p>
          <a:p>
            <a:pPr>
              <a:buFontTx/>
              <a:buNone/>
            </a:pPr>
            <a:r>
              <a:rPr lang="en-US" sz="2400" dirty="0">
                <a:solidFill>
                  <a:schemeClr val="accent1"/>
                </a:solidFill>
              </a:rPr>
              <a:t>l</a:t>
            </a:r>
            <a:r>
              <a:rPr lang="nl-NL" sz="2400" dirty="0">
                <a:solidFill>
                  <a:schemeClr val="accent1"/>
                </a:solidFill>
              </a:rPr>
              <a:t>e 			</a:t>
            </a:r>
            <a:r>
              <a:rPr lang="nl-NL" sz="2400" dirty="0"/>
              <a:t>hem</a:t>
            </a:r>
            <a:r>
              <a:rPr lang="en-US" sz="2400" dirty="0"/>
              <a:t> (het)</a:t>
            </a:r>
            <a:endParaRPr lang="nl-NL" sz="2400" dirty="0"/>
          </a:p>
          <a:p>
            <a:pPr>
              <a:buFontTx/>
              <a:buNone/>
            </a:pPr>
            <a:r>
              <a:rPr lang="en-US" sz="2400" dirty="0">
                <a:solidFill>
                  <a:schemeClr val="accent1"/>
                </a:solidFill>
              </a:rPr>
              <a:t>l</a:t>
            </a:r>
            <a:r>
              <a:rPr lang="nl-NL" sz="2400" dirty="0">
                <a:solidFill>
                  <a:schemeClr val="accent1"/>
                </a:solidFill>
              </a:rPr>
              <a:t>a 			</a:t>
            </a:r>
            <a:r>
              <a:rPr lang="nl-NL" sz="2400" dirty="0"/>
              <a:t>haar</a:t>
            </a:r>
            <a:r>
              <a:rPr lang="en-US" sz="2400" dirty="0"/>
              <a:t> (het)</a:t>
            </a:r>
            <a:endParaRPr lang="nl-NL" sz="2400" dirty="0"/>
          </a:p>
          <a:p>
            <a:pPr>
              <a:buFontTx/>
              <a:buNone/>
            </a:pPr>
            <a:r>
              <a:rPr lang="nl-NL" sz="2400" dirty="0">
                <a:solidFill>
                  <a:schemeClr val="tx2">
                    <a:lumMod val="75000"/>
                  </a:schemeClr>
                </a:solidFill>
              </a:rPr>
              <a:t>l’ </a:t>
            </a:r>
            <a:r>
              <a:rPr lang="nl-NL" sz="1800" dirty="0">
                <a:solidFill>
                  <a:schemeClr val="tx2">
                    <a:lumMod val="75000"/>
                  </a:schemeClr>
                </a:solidFill>
              </a:rPr>
              <a:t> (voor stomme h of klinker) </a:t>
            </a:r>
            <a:r>
              <a:rPr lang="nl-NL" sz="1800" dirty="0">
                <a:solidFill>
                  <a:schemeClr val="accent1"/>
                </a:solidFill>
              </a:rPr>
              <a:t>		</a:t>
            </a:r>
            <a:r>
              <a:rPr lang="nl-NL" sz="2400" dirty="0"/>
              <a:t>hem/haar/het</a:t>
            </a:r>
            <a:endParaRPr lang="nl-NL" sz="24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Tx/>
              <a:buNone/>
            </a:pPr>
            <a:endParaRPr lang="nl-NL" sz="18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Tx/>
              <a:buNone/>
            </a:pPr>
            <a:endParaRPr lang="nl-NL" dirty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643438" y="2057400"/>
            <a:ext cx="3814762" cy="4114800"/>
          </a:xfrm>
        </p:spPr>
        <p:txBody>
          <a:bodyPr/>
          <a:lstStyle/>
          <a:p>
            <a:r>
              <a:rPr lang="nl-NL" sz="2400" dirty="0"/>
              <a:t>Meewerkend voorwerp</a:t>
            </a:r>
          </a:p>
          <a:p>
            <a:pPr>
              <a:buFontTx/>
              <a:buNone/>
            </a:pPr>
            <a:endParaRPr lang="nl-NL" sz="2400" dirty="0"/>
          </a:p>
          <a:p>
            <a:pPr>
              <a:buFontTx/>
              <a:buNone/>
            </a:pPr>
            <a:r>
              <a:rPr lang="en-US" sz="2400" dirty="0">
                <a:solidFill>
                  <a:srgbClr val="33CC33"/>
                </a:solidFill>
              </a:rPr>
              <a:t>l</a:t>
            </a:r>
            <a:r>
              <a:rPr lang="nl-NL" sz="2400" dirty="0">
                <a:solidFill>
                  <a:srgbClr val="33CC33"/>
                </a:solidFill>
              </a:rPr>
              <a:t>ui		</a:t>
            </a:r>
            <a:r>
              <a:rPr lang="en-US" sz="2400" dirty="0">
                <a:solidFill>
                  <a:srgbClr val="33CC33"/>
                </a:solidFill>
              </a:rPr>
              <a:t>	</a:t>
            </a:r>
            <a:r>
              <a:rPr lang="nl-NL" sz="2400" dirty="0"/>
              <a:t>hem</a:t>
            </a:r>
          </a:p>
          <a:p>
            <a:pPr>
              <a:buFontTx/>
              <a:buNone/>
            </a:pPr>
            <a:r>
              <a:rPr lang="en-US" sz="2400" dirty="0">
                <a:solidFill>
                  <a:srgbClr val="33CC33"/>
                </a:solidFill>
              </a:rPr>
              <a:t>l</a:t>
            </a:r>
            <a:r>
              <a:rPr lang="nl-NL" sz="2400" dirty="0">
                <a:solidFill>
                  <a:srgbClr val="33CC33"/>
                </a:solidFill>
              </a:rPr>
              <a:t>ui</a:t>
            </a:r>
            <a:r>
              <a:rPr lang="en-US" sz="2400" dirty="0">
                <a:solidFill>
                  <a:srgbClr val="33CC33"/>
                </a:solidFill>
              </a:rPr>
              <a:t>			</a:t>
            </a:r>
            <a:r>
              <a:rPr lang="nl-NL" sz="2400" dirty="0"/>
              <a:t>haar</a:t>
            </a:r>
          </a:p>
          <a:p>
            <a:pPr>
              <a:buFontTx/>
              <a:buNone/>
            </a:pPr>
            <a:endParaRPr lang="nl-NL" sz="2400" dirty="0"/>
          </a:p>
          <a:p>
            <a:pPr>
              <a:buFontTx/>
              <a:buNone/>
            </a:pPr>
            <a:r>
              <a:rPr lang="nl-NL" sz="2400" dirty="0">
                <a:solidFill>
                  <a:srgbClr val="33CC33"/>
                </a:solidFill>
              </a:rPr>
              <a:t>lui</a:t>
            </a:r>
            <a:r>
              <a:rPr lang="nl-NL" sz="2400" dirty="0"/>
              <a:t>  kort je </a:t>
            </a:r>
            <a:r>
              <a:rPr lang="nl-NL" sz="2400" b="1" u="sng" dirty="0"/>
              <a:t>niet</a:t>
            </a:r>
            <a:r>
              <a:rPr lang="nl-NL" sz="2400" dirty="0"/>
              <a:t> af tot </a:t>
            </a:r>
            <a:r>
              <a:rPr lang="nl-NL" sz="2400" dirty="0">
                <a:solidFill>
                  <a:srgbClr val="33CC33"/>
                </a:solidFill>
              </a:rPr>
              <a:t>l’</a:t>
            </a:r>
          </a:p>
          <a:p>
            <a:pPr>
              <a:buFontTx/>
              <a:buNone/>
            </a:pPr>
            <a:r>
              <a:rPr lang="nl-NL" sz="2400" dirty="0"/>
              <a:t>(vooral omdat er geen stomme ‘e’ in zit)</a:t>
            </a: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utoUpdateAnimBg="0"/>
      <p:bldP spid="7173" grpId="0" build="p" autoUpdateAnimBg="0"/>
      <p:bldP spid="7174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Plaats in de zin</a:t>
            </a:r>
            <a:endParaRPr lang="nl-NL" sz="400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infinitief</a:t>
            </a:r>
            <a:r>
              <a:rPr lang="en-US" dirty="0"/>
              <a:t> in de zin </a:t>
            </a:r>
            <a:r>
              <a:rPr lang="en-US" dirty="0" err="1"/>
              <a:t>staat</a:t>
            </a:r>
            <a:r>
              <a:rPr lang="en-US" dirty="0"/>
              <a:t>: </a:t>
            </a:r>
            <a:r>
              <a:rPr lang="en-US" dirty="0" err="1"/>
              <a:t>vóór</a:t>
            </a:r>
            <a:r>
              <a:rPr lang="en-US" dirty="0"/>
              <a:t> de </a:t>
            </a:r>
            <a:r>
              <a:rPr lang="en-US" dirty="0" err="1"/>
              <a:t>infinitief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z="2400" dirty="0"/>
              <a:t>Je </a:t>
            </a:r>
            <a:r>
              <a:rPr lang="en-US" sz="2400" dirty="0" err="1"/>
              <a:t>peux</a:t>
            </a:r>
            <a:r>
              <a:rPr lang="en-US" sz="2400" dirty="0"/>
              <a:t> </a:t>
            </a:r>
            <a:r>
              <a:rPr lang="en-US" sz="2400" dirty="0" err="1">
                <a:solidFill>
                  <a:schemeClr val="accent1"/>
                </a:solidFill>
              </a:rPr>
              <a:t>le</a:t>
            </a:r>
            <a:r>
              <a:rPr lang="en-US" sz="2400" dirty="0"/>
              <a:t> </a:t>
            </a:r>
            <a:r>
              <a:rPr lang="en-US" sz="2400" dirty="0" err="1"/>
              <a:t>voir</a:t>
            </a:r>
            <a:r>
              <a:rPr lang="en-US" sz="2400" dirty="0"/>
              <a:t>;</a:t>
            </a:r>
            <a:r>
              <a:rPr lang="nl-NL" sz="2400" dirty="0"/>
              <a:t> je </a:t>
            </a:r>
            <a:r>
              <a:rPr lang="nl-NL" sz="2400" dirty="0" err="1"/>
              <a:t>voudrais</a:t>
            </a:r>
            <a:r>
              <a:rPr lang="nl-NL" sz="2400" dirty="0"/>
              <a:t> </a:t>
            </a:r>
            <a:r>
              <a:rPr lang="nl-NL" sz="2400" dirty="0">
                <a:solidFill>
                  <a:schemeClr val="tx2">
                    <a:lumMod val="75000"/>
                  </a:schemeClr>
                </a:solidFill>
              </a:rPr>
              <a:t>la</a:t>
            </a:r>
            <a:r>
              <a:rPr lang="nl-NL" sz="2400" dirty="0"/>
              <a:t> </a:t>
            </a:r>
            <a:r>
              <a:rPr lang="nl-NL" sz="2400" dirty="0" err="1"/>
              <a:t>voir</a:t>
            </a:r>
            <a:r>
              <a:rPr lang="nl-NL" sz="2400" dirty="0"/>
              <a:t>;</a:t>
            </a:r>
            <a:r>
              <a:rPr lang="en-US" sz="2400" dirty="0"/>
              <a:t> Je </a:t>
            </a:r>
            <a:r>
              <a:rPr lang="en-US" sz="2400" dirty="0" err="1"/>
              <a:t>veux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33CC33"/>
                </a:solidFill>
              </a:rPr>
              <a:t>lui</a:t>
            </a:r>
            <a:r>
              <a:rPr lang="en-US" sz="2400" dirty="0"/>
              <a:t> </a:t>
            </a:r>
            <a:r>
              <a:rPr lang="en-US" sz="2400" dirty="0" err="1"/>
              <a:t>parler</a:t>
            </a:r>
            <a:r>
              <a:rPr lang="nl-NL" sz="2400" dirty="0"/>
              <a:t>.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dirty="0"/>
              <a:t>Anders: </a:t>
            </a:r>
            <a:r>
              <a:rPr lang="en-US" dirty="0" err="1"/>
              <a:t>vóór</a:t>
            </a:r>
            <a:r>
              <a:rPr lang="en-US" dirty="0"/>
              <a:t> de </a:t>
            </a:r>
            <a:r>
              <a:rPr lang="en-US" dirty="0" err="1"/>
              <a:t>persoonsvorm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z="2400" dirty="0"/>
              <a:t>Je </a:t>
            </a:r>
            <a:r>
              <a:rPr lang="en-US" sz="2400" dirty="0" err="1">
                <a:solidFill>
                  <a:schemeClr val="accent1"/>
                </a:solidFill>
              </a:rPr>
              <a:t>le</a:t>
            </a:r>
            <a:r>
              <a:rPr lang="en-US" sz="2400" dirty="0">
                <a:solidFill>
                  <a:schemeClr val="accent1"/>
                </a:solidFill>
              </a:rPr>
              <a:t>/la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/>
              <a:t>vois</a:t>
            </a:r>
            <a:r>
              <a:rPr lang="en-US" sz="2400" dirty="0"/>
              <a:t>; Je </a:t>
            </a:r>
            <a:r>
              <a:rPr lang="en-US" sz="2400" dirty="0" err="1">
                <a:solidFill>
                  <a:srgbClr val="33CC33"/>
                </a:solidFill>
              </a:rPr>
              <a:t>lui</a:t>
            </a:r>
            <a:r>
              <a:rPr lang="en-US" sz="2400" dirty="0"/>
              <a:t> ai </a:t>
            </a:r>
            <a:r>
              <a:rPr lang="en-US" sz="2400" dirty="0" err="1"/>
              <a:t>parlé</a:t>
            </a:r>
            <a:r>
              <a:rPr lang="en-US" sz="2400" dirty="0"/>
              <a:t> </a:t>
            </a:r>
          </a:p>
          <a:p>
            <a:pPr>
              <a:lnSpc>
                <a:spcPct val="90000"/>
              </a:lnSpc>
            </a:pPr>
            <a:r>
              <a:rPr lang="en-US" dirty="0"/>
              <a:t>Met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ontkenning</a:t>
            </a:r>
            <a:r>
              <a:rPr lang="en-US" dirty="0"/>
              <a:t>: </a:t>
            </a:r>
            <a:r>
              <a:rPr lang="en-US" dirty="0" err="1"/>
              <a:t>binnen</a:t>
            </a:r>
            <a:r>
              <a:rPr lang="en-US" dirty="0"/>
              <a:t> </a:t>
            </a:r>
            <a:r>
              <a:rPr lang="en-US" i="1" dirty="0" err="1">
                <a:solidFill>
                  <a:srgbClr val="6699FF"/>
                </a:solidFill>
              </a:rPr>
              <a:t>ne</a:t>
            </a:r>
            <a:r>
              <a:rPr lang="en-US" i="1" dirty="0">
                <a:solidFill>
                  <a:srgbClr val="6699FF"/>
                </a:solidFill>
              </a:rPr>
              <a:t>…pas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Je </a:t>
            </a:r>
            <a:r>
              <a:rPr lang="en-US" sz="2400" dirty="0" err="1">
                <a:solidFill>
                  <a:srgbClr val="6699FF"/>
                </a:solidFill>
              </a:rPr>
              <a:t>ne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le</a:t>
            </a:r>
            <a:r>
              <a:rPr lang="en-US" sz="2400" dirty="0">
                <a:solidFill>
                  <a:schemeClr val="accent1"/>
                </a:solidFill>
              </a:rPr>
              <a:t>/la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/>
              <a:t>vois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6699FF"/>
                </a:solidFill>
              </a:rPr>
              <a:t>pas</a:t>
            </a:r>
          </a:p>
          <a:p>
            <a:pPr lvl="1">
              <a:lnSpc>
                <a:spcPct val="90000"/>
              </a:lnSpc>
            </a:pPr>
            <a:r>
              <a:rPr lang="en-US" sz="2400" dirty="0" err="1"/>
              <a:t>maar</a:t>
            </a:r>
            <a:r>
              <a:rPr lang="en-US" sz="2400" dirty="0"/>
              <a:t> let op: Je </a:t>
            </a:r>
            <a:r>
              <a:rPr lang="en-US" sz="2400" dirty="0" err="1">
                <a:solidFill>
                  <a:srgbClr val="6699FF"/>
                </a:solidFill>
              </a:rPr>
              <a:t>ne</a:t>
            </a:r>
            <a:r>
              <a:rPr lang="en-US" sz="2400" dirty="0"/>
              <a:t> </a:t>
            </a:r>
            <a:r>
              <a:rPr lang="en-US" sz="2400" dirty="0" err="1"/>
              <a:t>veux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6699FF"/>
                </a:solidFill>
              </a:rPr>
              <a:t>pas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33CC33"/>
                </a:solidFill>
              </a:rPr>
              <a:t>lui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/>
              <a:t>parler</a:t>
            </a:r>
            <a:endParaRPr lang="en-US" sz="24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/>
              <a:t>(</a:t>
            </a:r>
            <a:r>
              <a:rPr lang="en-US" sz="2400" dirty="0" err="1"/>
              <a:t>infinitief</a:t>
            </a:r>
            <a:r>
              <a:rPr lang="en-US" sz="2400" dirty="0"/>
              <a:t>!)</a:t>
            </a:r>
            <a:endParaRPr lang="nl-NL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0651" y="219363"/>
            <a:ext cx="7772400" cy="627971"/>
          </a:xfrm>
        </p:spPr>
        <p:txBody>
          <a:bodyPr/>
          <a:lstStyle/>
          <a:p>
            <a:r>
              <a:rPr lang="en-US" sz="4000" dirty="0" err="1"/>
              <a:t>Vervangen</a:t>
            </a:r>
            <a:r>
              <a:rPr lang="en-US" sz="4000" dirty="0"/>
              <a:t> van </a:t>
            </a:r>
            <a:r>
              <a:rPr lang="en-US" sz="4000" dirty="0" err="1"/>
              <a:t>lijd</a:t>
            </a:r>
            <a:r>
              <a:rPr lang="en-US" sz="4000" dirty="0"/>
              <a:t>./</a:t>
            </a:r>
            <a:r>
              <a:rPr lang="en-US" sz="4000" dirty="0" err="1"/>
              <a:t>meew.vw</a:t>
            </a:r>
            <a:endParaRPr lang="nl-NL" sz="4000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43608"/>
            <a:ext cx="7772400" cy="573357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nl-NL" sz="2800" dirty="0"/>
              <a:t>Tu </a:t>
            </a:r>
            <a:r>
              <a:rPr lang="en-US" sz="2800" dirty="0"/>
              <a:t>as vu </a:t>
            </a:r>
            <a:r>
              <a:rPr lang="nl-NL" sz="2800" dirty="0"/>
              <a:t>Mohamed</a:t>
            </a:r>
            <a:r>
              <a:rPr lang="en-US" sz="2800" dirty="0"/>
              <a:t>? Oui, je … ai vu.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Oui, je </a:t>
            </a:r>
            <a:r>
              <a:rPr lang="en-US" sz="2400" u="sng" dirty="0">
                <a:solidFill>
                  <a:schemeClr val="accent1"/>
                </a:solidFill>
              </a:rPr>
              <a:t>l’</a:t>
            </a:r>
            <a:r>
              <a:rPr lang="en-US" sz="2400" dirty="0"/>
              <a:t>ai vu. 	[</a:t>
            </a:r>
            <a:r>
              <a:rPr lang="en-US" sz="2400" dirty="0" err="1">
                <a:solidFill>
                  <a:schemeClr val="accent1"/>
                </a:solidFill>
              </a:rPr>
              <a:t>le</a:t>
            </a:r>
            <a:r>
              <a:rPr lang="en-US" sz="2400" dirty="0"/>
              <a:t>&gt;</a:t>
            </a:r>
            <a:r>
              <a:rPr lang="en-US" sz="2400" dirty="0">
                <a:solidFill>
                  <a:schemeClr val="accent1"/>
                </a:solidFill>
              </a:rPr>
              <a:t>l’</a:t>
            </a:r>
            <a:r>
              <a:rPr lang="en-US" sz="2400" dirty="0"/>
              <a:t>]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Il a </a:t>
            </a:r>
            <a:r>
              <a:rPr lang="en-US" sz="2800" dirty="0" err="1"/>
              <a:t>oublié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carte </a:t>
            </a:r>
            <a:r>
              <a:rPr lang="en-US" sz="2800" dirty="0" err="1"/>
              <a:t>bancaire</a:t>
            </a:r>
            <a:r>
              <a:rPr lang="en-US" sz="2800" dirty="0"/>
              <a:t>? Oui, il … a </a:t>
            </a:r>
            <a:r>
              <a:rPr lang="en-US" sz="2800" dirty="0" err="1"/>
              <a:t>oubliée</a:t>
            </a:r>
            <a:r>
              <a:rPr lang="en-US" sz="28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Oui, il </a:t>
            </a:r>
            <a:r>
              <a:rPr lang="en-US" sz="2400" u="sng" dirty="0">
                <a:solidFill>
                  <a:schemeClr val="accent1"/>
                </a:solidFill>
              </a:rPr>
              <a:t>l’</a:t>
            </a:r>
            <a:r>
              <a:rPr lang="en-US" sz="2400" dirty="0"/>
              <a:t>a </a:t>
            </a:r>
            <a:r>
              <a:rPr lang="en-US" sz="2400" dirty="0" err="1"/>
              <a:t>oubliée</a:t>
            </a:r>
            <a:r>
              <a:rPr lang="en-US" sz="2400" dirty="0"/>
              <a:t>. [</a:t>
            </a:r>
            <a:r>
              <a:rPr lang="en-US" sz="2400" dirty="0">
                <a:solidFill>
                  <a:schemeClr val="accent1"/>
                </a:solidFill>
              </a:rPr>
              <a:t>la</a:t>
            </a:r>
            <a:r>
              <a:rPr lang="en-US" sz="2400" dirty="0"/>
              <a:t>&gt;</a:t>
            </a:r>
            <a:r>
              <a:rPr lang="en-US" sz="2400" dirty="0">
                <a:solidFill>
                  <a:schemeClr val="accent1"/>
                </a:solidFill>
              </a:rPr>
              <a:t>l’</a:t>
            </a:r>
            <a:r>
              <a:rPr lang="en-US" sz="2400" dirty="0"/>
              <a:t>]</a:t>
            </a:r>
          </a:p>
          <a:p>
            <a:pPr>
              <a:lnSpc>
                <a:spcPct val="90000"/>
              </a:lnSpc>
            </a:pPr>
            <a:r>
              <a:rPr lang="en-US" sz="2800" dirty="0" err="1"/>
              <a:t>Ils</a:t>
            </a:r>
            <a:r>
              <a:rPr lang="en-US" sz="2800" dirty="0"/>
              <a:t> </a:t>
            </a:r>
            <a:r>
              <a:rPr lang="en-US" sz="2800" dirty="0" err="1"/>
              <a:t>ont</a:t>
            </a:r>
            <a:r>
              <a:rPr lang="en-US" sz="2800" dirty="0"/>
              <a:t> </a:t>
            </a:r>
            <a:r>
              <a:rPr lang="en-US" sz="2800" dirty="0" err="1"/>
              <a:t>parlé</a:t>
            </a:r>
            <a:r>
              <a:rPr lang="en-US" sz="2800" dirty="0"/>
              <a:t> à </a:t>
            </a:r>
            <a:r>
              <a:rPr lang="nl-NL" sz="2800" dirty="0"/>
              <a:t>Boris</a:t>
            </a:r>
            <a:r>
              <a:rPr lang="en-US" sz="2800" dirty="0"/>
              <a:t>? Oui, </a:t>
            </a:r>
            <a:r>
              <a:rPr lang="en-US" sz="2800" dirty="0" err="1"/>
              <a:t>ils</a:t>
            </a:r>
            <a:r>
              <a:rPr lang="en-US" sz="2800" dirty="0"/>
              <a:t> … </a:t>
            </a:r>
            <a:r>
              <a:rPr lang="en-US" sz="2800" dirty="0" err="1"/>
              <a:t>ont</a:t>
            </a:r>
            <a:r>
              <a:rPr lang="en-US" sz="2800" dirty="0"/>
              <a:t> </a:t>
            </a:r>
            <a:r>
              <a:rPr lang="en-US" sz="2800" dirty="0" err="1"/>
              <a:t>parlé</a:t>
            </a:r>
            <a:r>
              <a:rPr lang="en-US" sz="28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Oui, </a:t>
            </a:r>
            <a:r>
              <a:rPr lang="en-US" sz="2400" dirty="0" err="1"/>
              <a:t>ils</a:t>
            </a:r>
            <a:r>
              <a:rPr lang="en-US" sz="2400" dirty="0"/>
              <a:t> </a:t>
            </a:r>
            <a:r>
              <a:rPr lang="en-US" sz="2400" u="sng" dirty="0" err="1">
                <a:solidFill>
                  <a:srgbClr val="33CC33"/>
                </a:solidFill>
              </a:rPr>
              <a:t>lui</a:t>
            </a:r>
            <a:r>
              <a:rPr lang="en-US" sz="2400" dirty="0"/>
              <a:t> </a:t>
            </a:r>
            <a:r>
              <a:rPr lang="en-US" sz="2400" dirty="0" err="1"/>
              <a:t>ont</a:t>
            </a:r>
            <a:r>
              <a:rPr lang="en-US" sz="2400" dirty="0"/>
              <a:t> </a:t>
            </a:r>
            <a:r>
              <a:rPr lang="en-US" sz="2400" dirty="0" err="1"/>
              <a:t>parlé</a:t>
            </a:r>
            <a:r>
              <a:rPr lang="en-US" sz="2400" dirty="0"/>
              <a:t>.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Vous </a:t>
            </a:r>
            <a:r>
              <a:rPr lang="en-US" sz="2800" dirty="0" err="1"/>
              <a:t>avez</a:t>
            </a:r>
            <a:r>
              <a:rPr lang="en-US" sz="2800" dirty="0"/>
              <a:t> </a:t>
            </a:r>
            <a:r>
              <a:rPr lang="en-US" sz="2800" dirty="0" err="1"/>
              <a:t>parlé</a:t>
            </a:r>
            <a:r>
              <a:rPr lang="en-US" sz="2800" dirty="0"/>
              <a:t> à </a:t>
            </a:r>
            <a:r>
              <a:rPr lang="nl-NL" sz="2800" dirty="0"/>
              <a:t>Hajar</a:t>
            </a:r>
            <a:r>
              <a:rPr lang="en-US" sz="2800" dirty="0"/>
              <a:t>? Oui, je … ai </a:t>
            </a:r>
            <a:r>
              <a:rPr lang="en-US" sz="2800" dirty="0" err="1"/>
              <a:t>parlé</a:t>
            </a:r>
            <a:r>
              <a:rPr lang="en-US" sz="2800" dirty="0"/>
              <a:t>.</a:t>
            </a:r>
            <a:r>
              <a:rPr lang="nl-NL" sz="2800" dirty="0"/>
              <a:t> 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Oui, je </a:t>
            </a:r>
            <a:r>
              <a:rPr lang="en-US" sz="2400" u="sng" dirty="0" err="1">
                <a:solidFill>
                  <a:srgbClr val="33CC33"/>
                </a:solidFill>
              </a:rPr>
              <a:t>lui</a:t>
            </a:r>
            <a:r>
              <a:rPr lang="en-US" sz="2400" dirty="0"/>
              <a:t> ai </a:t>
            </a:r>
            <a:r>
              <a:rPr lang="en-US" sz="2400" dirty="0" err="1"/>
              <a:t>parlé</a:t>
            </a:r>
            <a:r>
              <a:rPr lang="en-US" sz="2400" dirty="0"/>
              <a:t>.</a:t>
            </a:r>
            <a:endParaRPr lang="nl-NL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Je </a:t>
            </a:r>
            <a:r>
              <a:rPr lang="en-US" sz="2800" dirty="0" err="1"/>
              <a:t>peux</a:t>
            </a:r>
            <a:r>
              <a:rPr lang="en-US" sz="2800" dirty="0"/>
              <a:t> </a:t>
            </a:r>
            <a:r>
              <a:rPr lang="en-US" sz="2800" dirty="0" err="1"/>
              <a:t>donner</a:t>
            </a:r>
            <a:r>
              <a:rPr lang="en-US" sz="2800" dirty="0"/>
              <a:t> la </a:t>
            </a:r>
            <a:r>
              <a:rPr lang="en-US" sz="2800" dirty="0" err="1"/>
              <a:t>clé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33CC33"/>
                </a:solidFill>
              </a:rPr>
              <a:t>au prof</a:t>
            </a:r>
            <a:r>
              <a:rPr lang="en-US" sz="2800" dirty="0"/>
              <a:t>?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Oui, je … </a:t>
            </a:r>
            <a:r>
              <a:rPr lang="en-US" sz="2400" dirty="0" err="1"/>
              <a:t>peux</a:t>
            </a:r>
            <a:r>
              <a:rPr lang="en-US" sz="2400" dirty="0"/>
              <a:t> … </a:t>
            </a:r>
            <a:r>
              <a:rPr lang="en-US" sz="2400" dirty="0" err="1"/>
              <a:t>donner</a:t>
            </a:r>
            <a:r>
              <a:rPr lang="en-US" sz="2400" dirty="0"/>
              <a:t> la </a:t>
            </a:r>
            <a:r>
              <a:rPr lang="en-US" sz="2400" dirty="0" err="1"/>
              <a:t>clé</a:t>
            </a:r>
            <a:r>
              <a:rPr lang="en-US" sz="2400" dirty="0"/>
              <a:t>. [</a:t>
            </a:r>
            <a:r>
              <a:rPr lang="en-US" sz="2400" dirty="0" err="1"/>
              <a:t>welke</a:t>
            </a:r>
            <a:r>
              <a:rPr lang="en-US" sz="2400" dirty="0"/>
              <a:t> </a:t>
            </a:r>
            <a:r>
              <a:rPr lang="en-US" sz="2400" dirty="0" err="1"/>
              <a:t>plaats</a:t>
            </a:r>
            <a:r>
              <a:rPr lang="en-US" sz="2400" dirty="0"/>
              <a:t>?]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Oui, je </a:t>
            </a:r>
            <a:r>
              <a:rPr lang="en-US" sz="2400" dirty="0" err="1"/>
              <a:t>peux</a:t>
            </a:r>
            <a:r>
              <a:rPr lang="en-US" sz="2400" dirty="0"/>
              <a:t> </a:t>
            </a:r>
            <a:r>
              <a:rPr lang="en-US" sz="2400" u="sng" dirty="0" err="1">
                <a:solidFill>
                  <a:srgbClr val="33CC33"/>
                </a:solidFill>
              </a:rPr>
              <a:t>lui</a:t>
            </a:r>
            <a:r>
              <a:rPr lang="en-US" sz="2400" dirty="0"/>
              <a:t> </a:t>
            </a:r>
            <a:r>
              <a:rPr lang="en-US" sz="2400" dirty="0" err="1"/>
              <a:t>donner</a:t>
            </a:r>
            <a:r>
              <a:rPr lang="en-US" sz="2400" dirty="0"/>
              <a:t> la </a:t>
            </a:r>
            <a:r>
              <a:rPr lang="en-US" sz="2400" dirty="0" err="1"/>
              <a:t>clé</a:t>
            </a:r>
            <a:r>
              <a:rPr lang="en-US" sz="2400" dirty="0"/>
              <a:t>.</a:t>
            </a:r>
            <a:endParaRPr lang="nl-NL" sz="2400" dirty="0"/>
          </a:p>
          <a:p>
            <a:pPr lvl="1">
              <a:lnSpc>
                <a:spcPct val="90000"/>
              </a:lnSpc>
            </a:pPr>
            <a:endParaRPr lang="nl-NL" sz="2400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bldLvl="2" autoUpdateAnimBg="0"/>
    </p:bldLst>
  </p:timing>
</p:sld>
</file>

<file path=ppt/theme/theme1.xml><?xml version="1.0" encoding="utf-8"?>
<a:theme xmlns:a="http://schemas.openxmlformats.org/drawingml/2006/main" name="Vuurbol">
  <a:themeElements>
    <a:clrScheme name="Vuurbol 1">
      <a:dk1>
        <a:srgbClr val="5F5F5F"/>
      </a:dk1>
      <a:lt1>
        <a:srgbClr val="FFFFCC"/>
      </a:lt1>
      <a:dk2>
        <a:srgbClr val="000000"/>
      </a:dk2>
      <a:lt2>
        <a:srgbClr val="FFCC66"/>
      </a:lt2>
      <a:accent1>
        <a:srgbClr val="FF9933"/>
      </a:accent1>
      <a:accent2>
        <a:srgbClr val="CC0066"/>
      </a:accent2>
      <a:accent3>
        <a:srgbClr val="AAAAAA"/>
      </a:accent3>
      <a:accent4>
        <a:srgbClr val="DADAAE"/>
      </a:accent4>
      <a:accent5>
        <a:srgbClr val="FFCAAD"/>
      </a:accent5>
      <a:accent6>
        <a:srgbClr val="B9005C"/>
      </a:accent6>
      <a:hlink>
        <a:srgbClr val="CC00CC"/>
      </a:hlink>
      <a:folHlink>
        <a:srgbClr val="990099"/>
      </a:folHlink>
    </a:clrScheme>
    <a:fontScheme name="Vuurbo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l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l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Vuurbol 1">
        <a:dk1>
          <a:srgbClr val="5F5F5F"/>
        </a:dk1>
        <a:lt1>
          <a:srgbClr val="FFFFCC"/>
        </a:lt1>
        <a:dk2>
          <a:srgbClr val="000000"/>
        </a:dk2>
        <a:lt2>
          <a:srgbClr val="FFCC66"/>
        </a:lt2>
        <a:accent1>
          <a:srgbClr val="FF9933"/>
        </a:accent1>
        <a:accent2>
          <a:srgbClr val="CC0066"/>
        </a:accent2>
        <a:accent3>
          <a:srgbClr val="AAAAAA"/>
        </a:accent3>
        <a:accent4>
          <a:srgbClr val="DADAAE"/>
        </a:accent4>
        <a:accent5>
          <a:srgbClr val="FFCAAD"/>
        </a:accent5>
        <a:accent6>
          <a:srgbClr val="B9005C"/>
        </a:accent6>
        <a:hlink>
          <a:srgbClr val="CC00CC"/>
        </a:hlink>
        <a:folHlink>
          <a:srgbClr val="99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uurbol 2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F9933"/>
        </a:accent1>
        <a:accent2>
          <a:srgbClr val="CC0066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B9005C"/>
        </a:accent6>
        <a:hlink>
          <a:srgbClr val="CC00CC"/>
        </a:hlink>
        <a:folHlink>
          <a:srgbClr val="99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uurbol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Designs\Vuurbol.pot</Template>
  <TotalTime>333</TotalTime>
  <Words>321</Words>
  <Application>Microsoft Office PowerPoint</Application>
  <PresentationFormat>On-screen Show (4:3)</PresentationFormat>
  <Paragraphs>70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Vuurbol</vt:lpstr>
      <vt:lpstr>Persoonlijke voornaamwoorden</vt:lpstr>
      <vt:lpstr>Lijdend / meewerkend voorwerp</vt:lpstr>
      <vt:lpstr>Persoonlijke voornaamwoorden</vt:lpstr>
      <vt:lpstr>Vormen</vt:lpstr>
      <vt:lpstr>Plaats in de zin</vt:lpstr>
      <vt:lpstr>Vervangen van lijd./meew.vw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Persoonlijke voornaamwoorden</dc:title>
  <dc:creator>Annebeth</dc:creator>
  <cp:lastModifiedBy>Curtis Chung</cp:lastModifiedBy>
  <cp:revision>29</cp:revision>
  <dcterms:created xsi:type="dcterms:W3CDTF">2008-09-01T11:29:39Z</dcterms:created>
  <dcterms:modified xsi:type="dcterms:W3CDTF">2026-10-04T09:56:12Z</dcterms:modified>
</cp:coreProperties>
</file>